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5"/>
  </p:notesMasterIdLst>
  <p:sldIdLst>
    <p:sldId id="256" r:id="rId2"/>
    <p:sldId id="258" r:id="rId3"/>
    <p:sldId id="259" r:id="rId4"/>
    <p:sldId id="276" r:id="rId5"/>
    <p:sldId id="277" r:id="rId6"/>
    <p:sldId id="262" r:id="rId7"/>
    <p:sldId id="269" r:id="rId8"/>
    <p:sldId id="275" r:id="rId9"/>
    <p:sldId id="264" r:id="rId10"/>
    <p:sldId id="273" r:id="rId11"/>
    <p:sldId id="274" r:id="rId12"/>
    <p:sldId id="266" r:id="rId13"/>
    <p:sldId id="267" r:id="rId14"/>
  </p:sldIdLst>
  <p:sldSz cx="24384000" cy="137160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Montserrat" panose="00000500000000000000" pitchFamily="2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40">
          <p15:clr>
            <a:srgbClr val="A4A3A4"/>
          </p15:clr>
        </p15:guide>
        <p15:guide id="2" orient="horz" pos="691">
          <p15:clr>
            <a:srgbClr val="A4A3A4"/>
          </p15:clr>
        </p15:guide>
        <p15:guide id="3" orient="horz" pos="7903">
          <p15:clr>
            <a:srgbClr val="A4A3A4"/>
          </p15:clr>
        </p15:guide>
        <p15:guide id="4" pos="14620">
          <p15:clr>
            <a:srgbClr val="A4A3A4"/>
          </p15:clr>
        </p15:guide>
        <p15:guide id="5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>
        <p:guide pos="740"/>
        <p:guide orient="horz" pos="691"/>
        <p:guide orient="horz" pos="7903"/>
        <p:guide pos="146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1362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293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121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6263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95B11227-B90F-944D-259C-E2CE0B44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>
            <a:extLst>
              <a:ext uri="{FF2B5EF4-FFF2-40B4-BE49-F238E27FC236}">
                <a16:creationId xmlns:a16="http://schemas.microsoft.com/office/drawing/2014/main" id="{3710B550-8BD9-15B0-899E-AA1EA8D52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CBA19741-1C7F-8275-CE23-CE30B1176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654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3211959D-64AB-4C2D-9702-4AE09F1C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>
            <a:extLst>
              <a:ext uri="{FF2B5EF4-FFF2-40B4-BE49-F238E27FC236}">
                <a16:creationId xmlns:a16="http://schemas.microsoft.com/office/drawing/2014/main" id="{B6812653-AF27-760E-E483-BFEDE8991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BD76F669-746A-571D-021C-18F91704A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4013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581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5814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67FEB5BF-AC86-F869-6DF7-E97A7878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>
            <a:extLst>
              <a:ext uri="{FF2B5EF4-FFF2-40B4-BE49-F238E27FC236}">
                <a16:creationId xmlns:a16="http://schemas.microsoft.com/office/drawing/2014/main" id="{25428FFA-E1E5-4E41-6D2B-8295FCF6A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8D6807AA-116D-1F16-0D7C-049CFF3502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799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9353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9353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6CA01BA6-3995-BDFE-2A04-A5882A146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>
            <a:extLst>
              <a:ext uri="{FF2B5EF4-FFF2-40B4-BE49-F238E27FC236}">
                <a16:creationId xmlns:a16="http://schemas.microsoft.com/office/drawing/2014/main" id="{2E1C7874-D547-50BC-5661-BEE8DCC0D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A5830964-53B2-1983-ABA8-84B69D4A9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2668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694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photo">
  <p:cSld name="Blank with phot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pic" idx="2"/>
          </p:nvPr>
        </p:nvSpPr>
        <p:spPr>
          <a:xfrm>
            <a:off x="1460864" y="1008282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3"/>
          </p:nvPr>
        </p:nvSpPr>
        <p:spPr>
          <a:xfrm>
            <a:off x="6863408" y="1008282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4"/>
          </p:nvPr>
        </p:nvSpPr>
        <p:spPr>
          <a:xfrm>
            <a:off x="12265952" y="1008282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5"/>
          </p:nvPr>
        </p:nvSpPr>
        <p:spPr>
          <a:xfrm>
            <a:off x="17668497" y="1008282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>
            <a:spLocks noGrp="1"/>
          </p:cNvSpPr>
          <p:nvPr>
            <p:ph type="pic" idx="6"/>
          </p:nvPr>
        </p:nvSpPr>
        <p:spPr>
          <a:xfrm>
            <a:off x="1460864" y="6497960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>
            <a:spLocks noGrp="1"/>
          </p:cNvSpPr>
          <p:nvPr>
            <p:ph type="pic" idx="7"/>
          </p:nvPr>
        </p:nvSpPr>
        <p:spPr>
          <a:xfrm>
            <a:off x="6863408" y="6497960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>
            <a:spLocks noGrp="1"/>
          </p:cNvSpPr>
          <p:nvPr>
            <p:ph type="pic" idx="8"/>
          </p:nvPr>
        </p:nvSpPr>
        <p:spPr>
          <a:xfrm>
            <a:off x="12265952" y="6497960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9"/>
          </p:nvPr>
        </p:nvSpPr>
        <p:spPr>
          <a:xfrm>
            <a:off x="17668497" y="6497960"/>
            <a:ext cx="5113337" cy="511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271713" y="1729334"/>
            <a:ext cx="19504148" cy="217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2271713" y="4121696"/>
            <a:ext cx="20477162" cy="701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22489144" y="12347935"/>
            <a:ext cx="89535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120900" y="2278063"/>
            <a:ext cx="20627975" cy="217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0" b="1" i="0" u="none" strike="noStrike" cap="none">
                <a:solidFill>
                  <a:srgbClr val="272D3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0" b="1" i="0" u="none" strike="noStrike" cap="none">
                <a:solidFill>
                  <a:srgbClr val="272D3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0" b="1" i="0" u="none" strike="noStrike" cap="none">
                <a:solidFill>
                  <a:srgbClr val="272D3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0" b="1" i="0" u="none" strike="noStrike" cap="none">
                <a:solidFill>
                  <a:srgbClr val="272D3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0" b="0" i="0" u="none" strike="noStrike" cap="none">
                <a:solidFill>
                  <a:srgbClr val="272D3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0" b="0" i="0" u="none" strike="noStrike" cap="none">
                <a:solidFill>
                  <a:srgbClr val="272D3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0" b="0" i="0" u="none" strike="noStrike" cap="none">
                <a:solidFill>
                  <a:srgbClr val="272D3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0" b="0" i="0" u="none" strike="noStrike" cap="none">
                <a:solidFill>
                  <a:srgbClr val="272D3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71713" y="4670425"/>
            <a:ext cx="20477162" cy="701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marR="0" lvl="0" indent="-228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704" y="465983"/>
            <a:ext cx="5904656" cy="112764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com/products/workplace/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/>
        </p:nvSpPr>
        <p:spPr>
          <a:xfrm>
            <a:off x="3728864" y="4192531"/>
            <a:ext cx="17582797" cy="472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ДИПЛОМНАЯ РАБОТА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«Разработка веб-приложения для онлайн-обучения с использованием технологий </a:t>
            </a:r>
            <a:r>
              <a:rPr lang="ru-RU" sz="3000" b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Node.js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000" b="1" dirty="0">
              <a:solidFill>
                <a:schemeClr val="dk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Выполнил(а): Попова Анастасия Григорьевна, </a:t>
            </a:r>
            <a:r>
              <a:rPr lang="ru-RU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</a:t>
            </a: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-RU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ВТПО242(2)</a:t>
            </a: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_01_03</a:t>
            </a:r>
            <a:endParaRPr sz="30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  Амирханов .Б.С - </a:t>
            </a:r>
            <a:r>
              <a:rPr lang="ru-RU" sz="3000" b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фм.ғ.к</a:t>
            </a: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</a:t>
            </a:r>
            <a:r>
              <a:rPr lang="ru-RU" sz="3000" b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қауымдастырылған</a:t>
            </a: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профессор</a:t>
            </a:r>
            <a:endParaRPr lang="en-US" sz="3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ru-RU"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 sz="3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Алматы, 2026</a:t>
            </a:r>
            <a:endParaRPr sz="3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522" y="2616200"/>
            <a:ext cx="7120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Высшая школа компьютерной инженерии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1174751" y="2269788"/>
            <a:ext cx="22266271" cy="129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Цель дипломной работы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Times New Roman"/>
                <a:ea typeface="Times New Roman"/>
                <a:cs typeface="Times New Roman"/>
                <a:sym typeface="Times New Roman"/>
              </a:rPr>
              <a:t>Целью проекта является разработка современной платформы для размещения онлайн-курсов, которая позволяет пользователям получать доступ к образовательному контенту через веб-интерфейс.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46;p7"/>
          <p:cNvSpPr txBox="1"/>
          <p:nvPr/>
        </p:nvSpPr>
        <p:spPr>
          <a:xfrm>
            <a:off x="1174755" y="6202963"/>
            <a:ext cx="22266271" cy="90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lvl="0" algn="ctr"/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Задачи дипломной работы</a:t>
            </a:r>
          </a:p>
          <a:p>
            <a:pPr lvl="0"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r>
              <a:rPr lang="ru-RU" sz="2800" dirty="0"/>
              <a:t>Для достижения поставленной цели необходимо решить следующие задачи:</a:t>
            </a:r>
          </a:p>
          <a:p>
            <a:pPr algn="just"/>
            <a:endParaRPr lang="ru-RU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разработать архитектуру веб-приложения для онлайн-обучения;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спроектировать структуру базы данных для хранения информации о пользователях, курсах и уроках;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клиентскую часть приложения с использованием библиотеки </a:t>
            </a:r>
            <a:r>
              <a:rPr lang="ru-RU" sz="2800" dirty="0" err="1"/>
              <a:t>React</a:t>
            </a:r>
            <a:r>
              <a:rPr lang="ru-RU" sz="2800" dirty="0"/>
              <a:t>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разработать серверную часть приложения на основе Node.js и Express;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реализовать систему авторизации пользователей с использованием технологии JWT;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реализовать систему ролей пользователей с разграничением прав доступа (администратор и пользователь);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обеспечить хранение и управление медиафайлами с использованием облачного сервиса;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основные функции системы: создание курсов, добавление уроков и просмотр образовательного контента;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провести тестирование разработанного веб-приложения.</a:t>
            </a:r>
          </a:p>
          <a:p>
            <a:pPr lvl="0"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1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1174749" y="1473128"/>
            <a:ext cx="22266271" cy="109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algn="ctr"/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Актуальность темы дипломной работы</a:t>
            </a:r>
          </a:p>
          <a:p>
            <a:pPr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ru-RU" sz="2800" dirty="0"/>
              <a:t>Онлайн-обучение позволяет организовать образовательный процесс независимо от географического положения пользователей и времени доступа к учебным материалам.</a:t>
            </a:r>
          </a:p>
          <a:p>
            <a:endParaRPr lang="ru-RU" sz="2800" dirty="0"/>
          </a:p>
          <a:p>
            <a:r>
              <a:rPr lang="ru-RU" sz="2800" dirty="0"/>
              <a:t>Современные веб-приложения предоставляют удобные инструменты для размещения учебных курсов, управления образовательным контентом и взаимодействия между пользователями системы. </a:t>
            </a:r>
          </a:p>
          <a:p>
            <a:endParaRPr lang="ru-RU" sz="2800" dirty="0"/>
          </a:p>
          <a:p>
            <a:r>
              <a:rPr lang="ru-RU" sz="2800" dirty="0"/>
              <a:t>Использование веб-технологий позволяет создать масштабируемые и доступные образовательные платформы.</a:t>
            </a:r>
          </a:p>
          <a:p>
            <a:endParaRPr lang="ru-RU" sz="2800" dirty="0"/>
          </a:p>
          <a:p>
            <a:r>
              <a:rPr lang="ru-RU" sz="2800" dirty="0"/>
              <a:t>Разработка веб-приложения для онлайн-обучения с использованием современных технологий, таких как </a:t>
            </a:r>
            <a:r>
              <a:rPr lang="ru-RU" sz="2800" dirty="0" err="1"/>
              <a:t>React</a:t>
            </a:r>
            <a:r>
              <a:rPr lang="ru-RU" sz="2800" dirty="0"/>
              <a:t>, Node.js и </a:t>
            </a:r>
            <a:r>
              <a:rPr lang="ru-RU" sz="2800" dirty="0" err="1"/>
              <a:t>MongoDB</a:t>
            </a:r>
            <a:r>
              <a:rPr lang="ru-RU" sz="2800" dirty="0"/>
              <a:t>, позволяет создать удобную систему управления курсами, обеспечивающую безопасную авторизацию пользователей, хранение данных и доступ к образовательным материалам.</a:t>
            </a:r>
          </a:p>
          <a:p>
            <a:endParaRPr lang="ru-RU" sz="2800" dirty="0"/>
          </a:p>
          <a:p>
            <a:r>
              <a:rPr lang="ru-RU" sz="2800" dirty="0"/>
              <a:t>Разработанное веб-приложение может применяться не только для образовательных платформ, но и для корпоративного обучения сотрудников.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Компании могут использовать систему для: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размещения обучающих видеоматериалов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обучения новых сотрудников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повышения квалификации персонала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проведения внутренних обучающих программ</a:t>
            </a:r>
          </a:p>
          <a:p>
            <a:pPr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704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AA173A36-2441-94B1-7DE8-23DEFB44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1FAB6903-6D1C-15F3-66B9-372535C64A1E}"/>
              </a:ext>
            </a:extLst>
          </p:cNvPr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D099463B-DDDC-084A-E25E-92ADAEE57042}"/>
              </a:ext>
            </a:extLst>
          </p:cNvPr>
          <p:cNvSpPr txBox="1"/>
          <p:nvPr/>
        </p:nvSpPr>
        <p:spPr>
          <a:xfrm>
            <a:off x="1174749" y="1473128"/>
            <a:ext cx="22266271" cy="109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algn="ctr"/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Аналоги на рынке</a:t>
            </a:r>
          </a:p>
          <a:p>
            <a:pPr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50000"/>
              </a:lnSpc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C183A-0730-4AFD-B5DB-122C7F3CD172}"/>
              </a:ext>
            </a:extLst>
          </p:cNvPr>
          <p:cNvSpPr txBox="1"/>
          <p:nvPr/>
        </p:nvSpPr>
        <p:spPr>
          <a:xfrm>
            <a:off x="1174749" y="2566221"/>
            <a:ext cx="5994147" cy="991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Moodle</a:t>
            </a:r>
            <a:r>
              <a:rPr kumimoji="0" lang="ru-RU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 </a:t>
            </a:r>
            <a:r>
              <a:rPr kumimoji="0" lang="ru-RU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Workplace</a:t>
            </a:r>
            <a:endParaRPr kumimoji="0" lang="ru-RU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Один из самых известных корпоративных LMS в мире.</a:t>
            </a:r>
            <a:b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Используется компаниями для: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обучения сотрудников;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онбординга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;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сертификаций;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внутренних курсов;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экзаменов;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аналитики обучения.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Платформа позволяет компаниям создавать собственные курсы и управлять обучением внутри организации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ru-K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30900-B8EA-4B71-9C87-A2057008BD81}"/>
              </a:ext>
            </a:extLst>
          </p:cNvPr>
          <p:cNvSpPr txBox="1"/>
          <p:nvPr/>
        </p:nvSpPr>
        <p:spPr>
          <a:xfrm>
            <a:off x="9533382" y="2986845"/>
            <a:ext cx="13459968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800" b="1" dirty="0"/>
              <a:t>Главные недостатки</a:t>
            </a:r>
          </a:p>
          <a:p>
            <a:pPr>
              <a:lnSpc>
                <a:spcPct val="150000"/>
              </a:lnSpc>
              <a:buNone/>
            </a:pPr>
            <a:r>
              <a:rPr lang="ru-RU" sz="2800" b="1" dirty="0"/>
              <a:t>Очень сложный интерфейс</a:t>
            </a:r>
          </a:p>
          <a:p>
            <a:pPr>
              <a:lnSpc>
                <a:spcPct val="150000"/>
              </a:lnSpc>
              <a:buNone/>
            </a:pPr>
            <a:r>
              <a:rPr lang="ru-RU" sz="2800" dirty="0"/>
              <a:t>Это одна из самых частых претензий пользователей LMS-систем.</a:t>
            </a:r>
          </a:p>
          <a:p>
            <a:pPr>
              <a:lnSpc>
                <a:spcPct val="150000"/>
              </a:lnSpc>
              <a:buNone/>
            </a:pPr>
            <a:r>
              <a:rPr lang="ru-RU" sz="2800" dirty="0"/>
              <a:t>Интерфейс выглядит перегруженным и “старым”.</a:t>
            </a:r>
            <a:br>
              <a:rPr lang="ru-RU" sz="2800" dirty="0"/>
            </a:br>
            <a:r>
              <a:rPr lang="ru-RU" sz="2800" dirty="0"/>
              <a:t>Для HR-менеджеров без технического опыта платформа часто слишком сложная.</a:t>
            </a:r>
          </a:p>
          <a:p>
            <a:pPr>
              <a:lnSpc>
                <a:spcPct val="150000"/>
              </a:lnSpc>
              <a:buNone/>
            </a:pPr>
            <a:r>
              <a:rPr lang="ru-RU" sz="2400" b="1" dirty="0"/>
              <a:t>Долгое внедрение</a:t>
            </a:r>
          </a:p>
          <a:p>
            <a:pPr>
              <a:lnSpc>
                <a:spcPct val="150000"/>
              </a:lnSpc>
              <a:buNone/>
            </a:pPr>
            <a:r>
              <a:rPr lang="ru-RU" sz="2800" dirty="0"/>
              <a:t>Чтобы полноценно настроить </a:t>
            </a:r>
            <a:r>
              <a:rPr lang="ru-RU" sz="2800" dirty="0" err="1"/>
              <a:t>Moodle</a:t>
            </a:r>
            <a:r>
              <a:rPr lang="ru-RU" sz="2800" dirty="0"/>
              <a:t> </a:t>
            </a:r>
            <a:r>
              <a:rPr lang="ru-RU" sz="2800" dirty="0" err="1"/>
              <a:t>Workplace</a:t>
            </a:r>
            <a:r>
              <a:rPr lang="ru-RU" sz="2800" dirty="0"/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нужен разработчик;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DevOps</a:t>
            </a:r>
            <a:r>
              <a:rPr lang="ru-RU" sz="2800" dirty="0"/>
              <a:t>;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настройка сервера;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кастомизация. </a:t>
            </a:r>
          </a:p>
          <a:p>
            <a:pPr>
              <a:lnSpc>
                <a:spcPct val="150000"/>
              </a:lnSpc>
              <a:buNone/>
            </a:pPr>
            <a:r>
              <a:rPr lang="ru-RU" sz="2800" dirty="0"/>
              <a:t>Для среднего бизнеса это дорого.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68804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24055A83-7CF7-4A69-1557-C0CD0176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62B29111-97FA-9C9A-A620-38F4FC9DD45A}"/>
              </a:ext>
            </a:extLst>
          </p:cNvPr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F26EE734-1598-A1C1-D535-7B3ABEA1674E}"/>
              </a:ext>
            </a:extLst>
          </p:cNvPr>
          <p:cNvSpPr txBox="1"/>
          <p:nvPr/>
        </p:nvSpPr>
        <p:spPr>
          <a:xfrm>
            <a:off x="1174749" y="1473128"/>
            <a:ext cx="22266271" cy="109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algn="ctr"/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Преимущества моего приложения</a:t>
            </a:r>
          </a:p>
          <a:p>
            <a:pPr algn="ctr"/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50000"/>
              </a:lnSpc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FBFFB-DD2D-18BE-0168-763F10865F5E}"/>
              </a:ext>
            </a:extLst>
          </p:cNvPr>
          <p:cNvSpPr txBox="1"/>
          <p:nvPr/>
        </p:nvSpPr>
        <p:spPr>
          <a:xfrm>
            <a:off x="2107437" y="4272131"/>
            <a:ext cx="8810499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Простота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Чистый UI;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Понятный </a:t>
            </a:r>
            <a:r>
              <a:rPr lang="ru-RU" sz="3200" dirty="0" err="1"/>
              <a:t>onboarding</a:t>
            </a:r>
            <a:r>
              <a:rPr lang="ru-RU" sz="3200" dirty="0"/>
              <a:t>;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Простой конструктор курсов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k-KZ" sz="3200" dirty="0"/>
              <a:t>Кастомизация под конкретную компанию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Современный интерфейс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Удобная мобильная версия</a:t>
            </a:r>
          </a:p>
        </p:txBody>
      </p:sp>
    </p:spTree>
    <p:extLst>
      <p:ext uri="{BB962C8B-B14F-4D97-AF65-F5344CB8AC3E}">
        <p14:creationId xmlns:p14="http://schemas.microsoft.com/office/powerpoint/2010/main" val="9496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1058864" y="1193252"/>
            <a:ext cx="22266271" cy="82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Аналитическая часть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ru-KZ" altLang="ru-KZ" sz="3600" b="1" dirty="0">
                <a:solidFill>
                  <a:schemeClr val="tx1"/>
                </a:solidFill>
                <a:latin typeface="Arial" panose="020B0604020202020204" pitchFamily="34" charset="0"/>
              </a:rPr>
              <a:t>Сравнение технологий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6898B01-3333-0D16-0A9F-9D5DC79B0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550075"/>
              </p:ext>
            </p:extLst>
          </p:nvPr>
        </p:nvGraphicFramePr>
        <p:xfrm>
          <a:off x="1058864" y="3536734"/>
          <a:ext cx="21690012" cy="6642531"/>
        </p:xfrm>
        <a:graphic>
          <a:graphicData uri="http://schemas.openxmlformats.org/drawingml/2006/table">
            <a:tbl>
              <a:tblPr/>
              <a:tblGrid>
                <a:gridCol w="7230004">
                  <a:extLst>
                    <a:ext uri="{9D8B030D-6E8A-4147-A177-3AD203B41FA5}">
                      <a16:colId xmlns:a16="http://schemas.microsoft.com/office/drawing/2014/main" val="1927652361"/>
                    </a:ext>
                  </a:extLst>
                </a:gridCol>
                <a:gridCol w="7230004">
                  <a:extLst>
                    <a:ext uri="{9D8B030D-6E8A-4147-A177-3AD203B41FA5}">
                      <a16:colId xmlns:a16="http://schemas.microsoft.com/office/drawing/2014/main" val="1261914171"/>
                    </a:ext>
                  </a:extLst>
                </a:gridCol>
                <a:gridCol w="7230004">
                  <a:extLst>
                    <a:ext uri="{9D8B030D-6E8A-4147-A177-3AD203B41FA5}">
                      <a16:colId xmlns:a16="http://schemas.microsoft.com/office/drawing/2014/main" val="2306484017"/>
                    </a:ext>
                  </a:extLst>
                </a:gridCol>
              </a:tblGrid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Технология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Преимущества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Недостатки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01168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высокая производительность, компонентная архитектура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требует настройки состояния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241557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Angular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полноценный фреймворк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высокая сложность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776337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Vue.js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простота изучения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меньшее сообщество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899626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высокая скорость обработки запросов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требует грамотной архитектуры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46567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Django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встроенные инструменты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Python </a:t>
                      </a:r>
                      <a:r>
                        <a:rPr lang="kk-KZ" sz="2800"/>
                        <a:t>стек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35282"/>
                  </a:ext>
                </a:extLst>
              </a:tr>
              <a:tr h="94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гибкая структура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NoSQL </a:t>
                      </a:r>
                      <a:r>
                        <a:rPr lang="kk-KZ" sz="2800" dirty="0"/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94641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93FC739-5035-A58D-9EED-45F1D7B29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864" y="10632466"/>
            <a:ext cx="122584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 результатам анализа был выбран стек </a:t>
            </a:r>
            <a:r>
              <a:rPr kumimoji="0" lang="ru-KZ" altLang="ru-KZ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Node.js + </a:t>
            </a:r>
            <a:r>
              <a:rPr kumimoji="0" lang="ru-KZ" altLang="ru-KZ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94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1399309" y="1543050"/>
            <a:ext cx="20866962" cy="82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Техническая часть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r>
              <a:rPr lang="ru-RU" sz="2800" b="1" dirty="0"/>
              <a:t>В проекте используется современный стек веб-разработки</a:t>
            </a:r>
            <a:endParaRPr lang="en-US" sz="2800" b="1" dirty="0"/>
          </a:p>
          <a:p>
            <a:pPr algn="just"/>
            <a:endParaRPr lang="ru-RU" sz="2800" b="1" dirty="0"/>
          </a:p>
          <a:p>
            <a:pPr algn="just"/>
            <a:r>
              <a:rPr lang="ru-RU" sz="2800" b="1" dirty="0"/>
              <a:t>Используемые технологии</a:t>
            </a:r>
            <a:r>
              <a:rPr lang="en-US" sz="2800" b="1" dirty="0"/>
              <a:t>:</a:t>
            </a:r>
            <a:endParaRPr lang="ru-RU" sz="2800" b="1" dirty="0"/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 err="1"/>
              <a:t>React</a:t>
            </a:r>
            <a:r>
              <a:rPr lang="ru-RU" sz="2800" dirty="0"/>
              <a:t> — разработка пользовательского интерфейса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Node.js + Express</a:t>
            </a:r>
            <a:r>
              <a:rPr lang="ru-RU" sz="2800" dirty="0"/>
              <a:t> — серверная часть приложения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 err="1"/>
              <a:t>MongoDB</a:t>
            </a:r>
            <a:r>
              <a:rPr lang="ru-RU" sz="2800" dirty="0"/>
              <a:t> — база данных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 err="1"/>
              <a:t>Axios</a:t>
            </a:r>
            <a:r>
              <a:rPr lang="ru-RU" sz="2800" dirty="0"/>
              <a:t> — взаимодействие с сервером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 err="1"/>
              <a:t>Redux</a:t>
            </a:r>
            <a:r>
              <a:rPr lang="ru-RU" sz="2800" b="1" dirty="0"/>
              <a:t> </a:t>
            </a:r>
            <a:r>
              <a:rPr lang="ru-RU" sz="2800" b="1" dirty="0" err="1"/>
              <a:t>Toolkit</a:t>
            </a:r>
            <a:r>
              <a:rPr lang="ru-RU" sz="2800" dirty="0"/>
              <a:t> — управление состоянием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JWT</a:t>
            </a:r>
            <a:r>
              <a:rPr lang="ru-RU" sz="2800" dirty="0"/>
              <a:t> — авторизация пользователей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 err="1"/>
              <a:t>Cloudinary</a:t>
            </a:r>
            <a:r>
              <a:rPr lang="ru-RU" sz="2800" dirty="0"/>
              <a:t> — хранение изображений и видео</a:t>
            </a:r>
          </a:p>
          <a:p>
            <a:pPr lvl="1" algn="just">
              <a:lnSpc>
                <a:spcPct val="150000"/>
              </a:lnSpc>
            </a:pPr>
            <a:r>
              <a:rPr lang="ru-RU" sz="2800" b="1" dirty="0"/>
              <a:t>Преимущества выбранных технологий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высокая производительность системы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масштабируемость приложения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использование одного языка программирования (JavaScript)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удобство разработки и поддержки</a:t>
            </a:r>
          </a:p>
          <a:p>
            <a:pPr marL="4572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широкое применение технологий в индустрии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18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B0652F26-E9AC-9DFB-29EE-FCEB5C2F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078B826E-87F8-EAF8-A116-C2121B0AAED3}"/>
              </a:ext>
            </a:extLst>
          </p:cNvPr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4EF55ABD-7A6E-A768-D724-28AF4B06BE91}"/>
              </a:ext>
            </a:extLst>
          </p:cNvPr>
          <p:cNvSpPr txBox="1"/>
          <p:nvPr/>
        </p:nvSpPr>
        <p:spPr>
          <a:xfrm>
            <a:off x="1399309" y="1543050"/>
            <a:ext cx="20866962" cy="82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UML </a:t>
            </a: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28BEA3E-01B7-3B05-957C-D243053C2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98225E-4322-C873-54F3-CA31BC74B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570" y="2923627"/>
            <a:ext cx="17712860" cy="95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7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812800" y="1775907"/>
            <a:ext cx="22266271" cy="210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Расчетная часть</a:t>
            </a:r>
          </a:p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</a:t>
            </a:r>
          </a:p>
          <a:p>
            <a:pPr algn="ctr"/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2D9E294-A619-E00D-FFFD-29AF878AC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458174"/>
              </p:ext>
            </p:extLst>
          </p:nvPr>
        </p:nvGraphicFramePr>
        <p:xfrm>
          <a:off x="462976" y="3751346"/>
          <a:ext cx="23458047" cy="6826480"/>
        </p:xfrm>
        <a:graphic>
          <a:graphicData uri="http://schemas.openxmlformats.org/drawingml/2006/table">
            <a:tbl>
              <a:tblPr/>
              <a:tblGrid>
                <a:gridCol w="7819349">
                  <a:extLst>
                    <a:ext uri="{9D8B030D-6E8A-4147-A177-3AD203B41FA5}">
                      <a16:colId xmlns:a16="http://schemas.microsoft.com/office/drawing/2014/main" val="494724783"/>
                    </a:ext>
                  </a:extLst>
                </a:gridCol>
                <a:gridCol w="7819349">
                  <a:extLst>
                    <a:ext uri="{9D8B030D-6E8A-4147-A177-3AD203B41FA5}">
                      <a16:colId xmlns:a16="http://schemas.microsoft.com/office/drawing/2014/main" val="3349816743"/>
                    </a:ext>
                  </a:extLst>
                </a:gridCol>
                <a:gridCol w="7819349">
                  <a:extLst>
                    <a:ext uri="{9D8B030D-6E8A-4147-A177-3AD203B41FA5}">
                      <a16:colId xmlns:a16="http://schemas.microsoft.com/office/drawing/2014/main" val="2273887430"/>
                    </a:ext>
                  </a:extLst>
                </a:gridCol>
              </a:tblGrid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/>
                        <a:t>Этап разработки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/>
                        <a:t>Содержание работ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Время (часы)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03405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Анализ требований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анализ предметной области, постановка задач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2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600914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Проектирование системы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разработка архитектуры и структуры базы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2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316248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Разработка </a:t>
                      </a:r>
                      <a:r>
                        <a:rPr lang="en-US" sz="280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разработка интерфейса на </a:t>
                      </a:r>
                      <a:r>
                        <a:rPr lang="en-US" sz="2800"/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30</a:t>
                      </a:r>
                      <a:endParaRPr lang="ru-KZ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55475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Разработка </a:t>
                      </a:r>
                      <a:r>
                        <a:rPr lang="en-US" sz="2800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создание серверной части на 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 dirty="0"/>
                        <a:t>28</a:t>
                      </a:r>
                      <a:endParaRPr lang="ru-KZ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187822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Работа с базой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проектирование и настройка </a:t>
                      </a:r>
                      <a:r>
                        <a:rPr lang="en-US" sz="2800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2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59693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Тестирование системы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800"/>
                        <a:t>проверка функциональности и исправление ошибок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2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555920"/>
                  </a:ext>
                </a:extLst>
              </a:tr>
              <a:tr h="79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Документация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подготовка технической документации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2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704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0AA5A2-1AA4-1E82-83AC-B55087E8EDAC}"/>
              </a:ext>
            </a:extLst>
          </p:cNvPr>
          <p:cNvSpPr txBox="1"/>
          <p:nvPr/>
        </p:nvSpPr>
        <p:spPr>
          <a:xfrm>
            <a:off x="462976" y="10964969"/>
            <a:ext cx="143140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/>
              <a:t>Общая трудоёмкость</a:t>
            </a:r>
            <a:r>
              <a:rPr lang="en-US" sz="2800" b="1" dirty="0"/>
              <a:t>:</a:t>
            </a:r>
            <a:endParaRPr lang="ru-RU" sz="2800" b="1" dirty="0"/>
          </a:p>
          <a:p>
            <a:pPr>
              <a:lnSpc>
                <a:spcPct val="150000"/>
              </a:lnSpc>
            </a:pPr>
            <a:r>
              <a:rPr lang="ru-RU" sz="2800" dirty="0"/>
              <a:t>T = 8 + 10 + 30 + 28 + 6 + 8 + 6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T = 96 часа</a:t>
            </a:r>
          </a:p>
          <a:p>
            <a:endParaRPr lang="ru-KZ" sz="2800" dirty="0"/>
          </a:p>
        </p:txBody>
      </p:sp>
    </p:spTree>
    <p:extLst>
      <p:ext uri="{BB962C8B-B14F-4D97-AF65-F5344CB8AC3E}">
        <p14:creationId xmlns:p14="http://schemas.microsoft.com/office/powerpoint/2010/main" val="227704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812800" y="1775907"/>
            <a:ext cx="22266271" cy="210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Расчетная часть</a:t>
            </a:r>
            <a:endParaRPr lang="en-US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50000"/>
              </a:lnSpc>
            </a:pPr>
            <a:r>
              <a:rPr lang="ru-RU" sz="2800" b="1" dirty="0"/>
              <a:t>Расчёт стоимости разработки программного продукта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Используем специальную формулу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C = T × S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где:</a:t>
            </a:r>
          </a:p>
          <a:p>
            <a:pPr>
              <a:lnSpc>
                <a:spcPct val="150000"/>
              </a:lnSpc>
            </a:pPr>
            <a:r>
              <a:rPr lang="ru-RU" sz="2800" b="1" dirty="0"/>
              <a:t>C</a:t>
            </a:r>
            <a:r>
              <a:rPr lang="ru-RU" sz="2800" dirty="0"/>
              <a:t> — стоимость разработки</a:t>
            </a:r>
          </a:p>
          <a:p>
            <a:pPr>
              <a:lnSpc>
                <a:spcPct val="150000"/>
              </a:lnSpc>
            </a:pPr>
            <a:r>
              <a:rPr lang="ru-RU" sz="2800" b="1" dirty="0"/>
              <a:t>T</a:t>
            </a:r>
            <a:r>
              <a:rPr lang="ru-RU" sz="2800" dirty="0"/>
              <a:t> — трудоёмкость разработки (часы)</a:t>
            </a:r>
          </a:p>
          <a:p>
            <a:pPr>
              <a:lnSpc>
                <a:spcPct val="150000"/>
              </a:lnSpc>
            </a:pPr>
            <a:r>
              <a:rPr lang="ru-RU" sz="2800" b="1" dirty="0"/>
              <a:t>S</a:t>
            </a:r>
            <a:r>
              <a:rPr lang="ru-RU" sz="2800" dirty="0"/>
              <a:t> — стоимость одного часа работы разработчика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Предположим, что средняя стоимость работы разработчика составляет </a:t>
            </a:r>
            <a:r>
              <a:rPr lang="ru-RU" sz="2800" b="1" dirty="0"/>
              <a:t>5000 тенге в час</a:t>
            </a:r>
            <a:r>
              <a:rPr lang="ru-RU" sz="28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800" b="1" dirty="0"/>
              <a:t>Расчёт стоимости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C = 96 × 5000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C = 480 000 тенге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Ориентировочная стоимость разработки веб-приложения составляет </a:t>
            </a:r>
            <a:r>
              <a:rPr lang="ru-RU" sz="2800" b="1" dirty="0"/>
              <a:t>480 000 тенге</a:t>
            </a:r>
            <a:endParaRPr lang="ru-RU" sz="2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0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3D24E609-F581-8FB9-8CF5-CA8B8DF7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C9A1F080-AE6B-6D03-9CAD-24B51BC7F167}"/>
              </a:ext>
            </a:extLst>
          </p:cNvPr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1D8A05BA-6C7A-8670-8FEA-B85214755879}"/>
              </a:ext>
            </a:extLst>
          </p:cNvPr>
          <p:cNvSpPr txBox="1"/>
          <p:nvPr/>
        </p:nvSpPr>
        <p:spPr>
          <a:xfrm>
            <a:off x="812800" y="1775907"/>
            <a:ext cx="22266271" cy="210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Расчетная часть</a:t>
            </a:r>
            <a:endParaRPr lang="en-US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809EAC6-396C-D4FD-FAEA-3ADFA773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7354D39-59F1-20A3-D2D8-90EF20A50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666555"/>
              </p:ext>
            </p:extLst>
          </p:nvPr>
        </p:nvGraphicFramePr>
        <p:xfrm>
          <a:off x="1304928" y="5538036"/>
          <a:ext cx="22266272" cy="6226895"/>
        </p:xfrm>
        <a:graphic>
          <a:graphicData uri="http://schemas.openxmlformats.org/drawingml/2006/table">
            <a:tbl>
              <a:tblPr/>
              <a:tblGrid>
                <a:gridCol w="11133136">
                  <a:extLst>
                    <a:ext uri="{9D8B030D-6E8A-4147-A177-3AD203B41FA5}">
                      <a16:colId xmlns:a16="http://schemas.microsoft.com/office/drawing/2014/main" val="851014589"/>
                    </a:ext>
                  </a:extLst>
                </a:gridCol>
                <a:gridCol w="11133136">
                  <a:extLst>
                    <a:ext uri="{9D8B030D-6E8A-4147-A177-3AD203B41FA5}">
                      <a16:colId xmlns:a16="http://schemas.microsoft.com/office/drawing/2014/main" val="1002058289"/>
                    </a:ext>
                  </a:extLst>
                </a:gridCol>
              </a:tblGrid>
              <a:tr h="124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Параметр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b="1" dirty="0"/>
                        <a:t>Требование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15661"/>
                  </a:ext>
                </a:extLst>
              </a:tr>
              <a:tr h="124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Процессор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2 ядра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519109"/>
                  </a:ext>
                </a:extLst>
              </a:tr>
              <a:tr h="124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Оперативная память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4 ГБ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991744"/>
                  </a:ext>
                </a:extLst>
              </a:tr>
              <a:tr h="124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Хранилище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20 ГБ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832961"/>
                  </a:ext>
                </a:extLst>
              </a:tr>
              <a:tr h="124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/>
                        <a:t>Интернет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2800" dirty="0"/>
                        <a:t>стабильное соединение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37459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9F7326D-115C-9BAF-C19D-E75A835CD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8" y="2902569"/>
            <a:ext cx="22266271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Требования к серверу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работы системы достаточно следующей конфигурации: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Такая конфигурация позволяет обеспечить стабильную работу веб-приложения.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322611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2545675" y="12448902"/>
            <a:ext cx="8953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9B9A9C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fld>
            <a:endParaRPr sz="2000" b="0" i="0" u="none" strike="noStrike" cap="none">
              <a:solidFill>
                <a:srgbClr val="9B9A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1174749" y="1571626"/>
            <a:ext cx="22266271" cy="3070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ru-RU" sz="2800" dirty="0"/>
              <a:t>В процессе разработки была реализована клиент-серверная архитектура системы, обеспечивающая взаимодействие между пользовательским интерфейсом и серверной частью через REST API. </a:t>
            </a:r>
          </a:p>
          <a:p>
            <a:endParaRPr lang="ru-RU" sz="2800" dirty="0"/>
          </a:p>
          <a:p>
            <a:r>
              <a:rPr lang="ru-RU" sz="2800" dirty="0"/>
              <a:t>В системе реализована безопасная авторизация пользователей с использованием технологии JWT, а также механизм разграничения прав доступа на основе ролей пользователей.</a:t>
            </a:r>
          </a:p>
          <a:p>
            <a:endParaRPr lang="ru-RU" sz="2800" dirty="0"/>
          </a:p>
          <a:p>
            <a:r>
              <a:rPr lang="ru-RU" sz="2800" dirty="0"/>
              <a:t>Разработанное приложение позволяет выполнять основные функции платформы онлайн-обучения, включая регистрацию и авторизацию пользователей, создание и управление курсами, добавление учебных материалов и просмотр образовательного контента.</a:t>
            </a:r>
          </a:p>
          <a:p>
            <a:endParaRPr lang="ru-RU" sz="2800" dirty="0"/>
          </a:p>
          <a:p>
            <a:r>
              <a:rPr lang="ru-RU" sz="2800" dirty="0"/>
              <a:t>Для хранения медиафайлов используется облачное хранилище, что позволяет снизить нагрузку на сервер приложения и обеспечить быстрый доступ к учебным материалам.</a:t>
            </a:r>
          </a:p>
          <a:p>
            <a:endParaRPr lang="ru-RU" sz="2800" dirty="0"/>
          </a:p>
          <a:p>
            <a:r>
              <a:rPr lang="ru-RU" sz="2800" dirty="0"/>
              <a:t>В результате выполненной работы была создана функциональная система онлайн-обучения.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algn="just"/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028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8220" y="3472409"/>
            <a:ext cx="19504148" cy="217805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34716320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-Blue 2">
      <a:dk1>
        <a:srgbClr val="292729"/>
      </a:dk1>
      <a:lt1>
        <a:srgbClr val="FDFCFF"/>
      </a:lt1>
      <a:dk2>
        <a:srgbClr val="000000"/>
      </a:dk2>
      <a:lt2>
        <a:srgbClr val="FEFFFF"/>
      </a:lt2>
      <a:accent1>
        <a:srgbClr val="F0F4F7"/>
      </a:accent1>
      <a:accent2>
        <a:srgbClr val="C3CBD0"/>
      </a:accent2>
      <a:accent3>
        <a:srgbClr val="146DA9"/>
      </a:accent3>
      <a:accent4>
        <a:srgbClr val="136DA9"/>
      </a:accent4>
      <a:accent5>
        <a:srgbClr val="136DA9"/>
      </a:accent5>
      <a:accent6>
        <a:srgbClr val="136DA9"/>
      </a:accent6>
      <a:hlink>
        <a:srgbClr val="136DA9"/>
      </a:hlink>
      <a:folHlink>
        <a:srgbClr val="0D60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885</Words>
  <Application>Microsoft Office PowerPoint</Application>
  <PresentationFormat>Произвольный</PresentationFormat>
  <Paragraphs>201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Times New Roman</vt:lpstr>
      <vt:lpstr>Helvetica Neue</vt:lpstr>
      <vt:lpstr>Montserrat</vt:lpstr>
      <vt:lpstr>Arial</vt:lpstr>
      <vt:lpstr>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Arman</dc:creator>
  <cp:lastModifiedBy>Анастасия Попова</cp:lastModifiedBy>
  <cp:revision>81</cp:revision>
  <dcterms:modified xsi:type="dcterms:W3CDTF">2026-05-28T02:04:40Z</dcterms:modified>
</cp:coreProperties>
</file>